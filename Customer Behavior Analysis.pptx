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embeddedFontLst>
    <p:embeddedFont>
      <p:font typeface="Sora SemiBold"/>
      <p:regular r:id="rId16"/>
      <p:bold r:id="rId17"/>
    </p:embeddedFont>
    <p:embeddedFont>
      <p:font typeface="Sora Light"/>
      <p:regular r:id="rId18"/>
      <p:bold r:id="rId19"/>
    </p:embeddedFont>
    <p:embeddedFont>
      <p:font typeface="Sora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ra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SoraSemiBold-bold.fntdata"/><Relationship Id="rId16" Type="http://schemas.openxmlformats.org/officeDocument/2006/relationships/font" Target="fonts/SoraSemiBold-regular.fntdata"/><Relationship Id="rId5" Type="http://schemas.openxmlformats.org/officeDocument/2006/relationships/slide" Target="slides/slide1.xml"/><Relationship Id="rId19" Type="http://schemas.openxmlformats.org/officeDocument/2006/relationships/font" Target="fonts/SoraLight-bold.fntdata"/><Relationship Id="rId6" Type="http://schemas.openxmlformats.org/officeDocument/2006/relationships/slide" Target="slides/slide2.xml"/><Relationship Id="rId18" Type="http://schemas.openxmlformats.org/officeDocument/2006/relationships/font" Target="fonts/SoraLigh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7870b5f95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7870b5f95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f7870b5f95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7870b5f9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f7870b5f9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f7870b5f9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" name="Google Shape;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5"/>
          <p:cNvSpPr/>
          <p:nvPr/>
        </p:nvSpPr>
        <p:spPr>
          <a:xfrm>
            <a:off x="473943" y="1916385"/>
            <a:ext cx="4767114" cy="89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800"/>
              <a:buFont typeface="Sora SemiBold"/>
              <a:buNone/>
            </a:pPr>
            <a:r>
              <a:rPr b="0" i="0" lang="en-US" sz="2800" u="none" cap="none" strike="noStrike">
                <a:solidFill>
                  <a:srgbClr val="1F1E1E"/>
                </a:solidFill>
                <a:latin typeface="Sora SemiBold"/>
                <a:ea typeface="Sora SemiBold"/>
                <a:cs typeface="Sora SemiBold"/>
                <a:sym typeface="Sora SemiBold"/>
              </a:rPr>
              <a:t>Customer Behavior Analysis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5"/>
          <p:cNvSpPr/>
          <p:nvPr/>
        </p:nvSpPr>
        <p:spPr>
          <a:xfrm>
            <a:off x="473943" y="3010346"/>
            <a:ext cx="5224314" cy="216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Sora Light"/>
              <a:buNone/>
            </a:pPr>
            <a:r>
              <a:rPr b="0" i="0" lang="en-US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End-to-End Data Analytics Project — </a:t>
            </a:r>
            <a:r>
              <a:rPr b="1" i="0" lang="en-US" sz="105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Python · SQL · Power BI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>
            <a:off x="473943" y="372442"/>
            <a:ext cx="8196114" cy="361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250"/>
              <a:buFont typeface="Sora SemiBold"/>
              <a:buNone/>
            </a:pPr>
            <a:r>
              <a:rPr b="0" i="0" lang="en-US" sz="2250" u="none" cap="none" strike="noStrike">
                <a:solidFill>
                  <a:srgbClr val="1F1E1E"/>
                </a:solidFill>
                <a:latin typeface="Sora SemiBold"/>
                <a:ea typeface="Sora SemiBold"/>
                <a:cs typeface="Sora SemiBold"/>
                <a:sym typeface="Sora SemiBold"/>
              </a:rPr>
              <a:t>Project Overview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" name="Google Shape;3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943" y="913061"/>
            <a:ext cx="8196114" cy="3597846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6"/>
          <p:cNvSpPr/>
          <p:nvPr/>
        </p:nvSpPr>
        <p:spPr>
          <a:xfrm>
            <a:off x="1864335" y="3497559"/>
            <a:ext cx="1436692" cy="233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450"/>
              <a:buFont typeface="Sora SemiBold"/>
              <a:buNone/>
            </a:pPr>
            <a:r>
              <a:rPr b="0" i="0" lang="en-US" sz="1450" u="none" cap="none" strike="noStrike">
                <a:solidFill>
                  <a:srgbClr val="1F1E1E"/>
                </a:solidFill>
                <a:latin typeface="Sora SemiBold"/>
                <a:ea typeface="Sora SemiBold"/>
                <a:cs typeface="Sora SemiBold"/>
                <a:sym typeface="Sora SemiBold"/>
              </a:rPr>
              <a:t>Python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6"/>
          <p:cNvSpPr/>
          <p:nvPr/>
        </p:nvSpPr>
        <p:spPr>
          <a:xfrm>
            <a:off x="1864335" y="3794445"/>
            <a:ext cx="1436692" cy="321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 Light"/>
              <a:buNone/>
            </a:pPr>
            <a:r>
              <a:rPr b="0" i="0" lang="en-US" sz="11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Data cleaning &amp; preprocessing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6"/>
          <p:cNvSpPr/>
          <p:nvPr/>
        </p:nvSpPr>
        <p:spPr>
          <a:xfrm>
            <a:off x="5898123" y="3281340"/>
            <a:ext cx="1436692" cy="233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450"/>
              <a:buFont typeface="Sora SemiBold"/>
              <a:buNone/>
            </a:pPr>
            <a:r>
              <a:rPr b="0" i="0" lang="en-US" sz="1450" u="none" cap="none" strike="noStrike">
                <a:solidFill>
                  <a:srgbClr val="1F1E1E"/>
                </a:solidFill>
                <a:latin typeface="Sora SemiBold"/>
                <a:ea typeface="Sora SemiBold"/>
                <a:cs typeface="Sora SemiBold"/>
                <a:sym typeface="Sora SemiBold"/>
              </a:rPr>
              <a:t>Power BI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6"/>
          <p:cNvSpPr/>
          <p:nvPr/>
        </p:nvSpPr>
        <p:spPr>
          <a:xfrm>
            <a:off x="5898123" y="3578225"/>
            <a:ext cx="1436692" cy="482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 Light"/>
              <a:buNone/>
            </a:pPr>
            <a:r>
              <a:rPr b="0" i="0" lang="en-US" sz="11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Interactive dashboard &amp; visualization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6"/>
          <p:cNvSpPr/>
          <p:nvPr/>
        </p:nvSpPr>
        <p:spPr>
          <a:xfrm>
            <a:off x="3893070" y="1290348"/>
            <a:ext cx="1436691" cy="233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450"/>
              <a:buFont typeface="Sora SemiBold"/>
              <a:buNone/>
            </a:pPr>
            <a:r>
              <a:rPr b="0" i="0" lang="en-US" sz="1450" u="none" cap="none" strike="noStrike">
                <a:solidFill>
                  <a:srgbClr val="1F1E1E"/>
                </a:solidFill>
                <a:latin typeface="Sora SemiBold"/>
                <a:ea typeface="Sora SemiBold"/>
                <a:cs typeface="Sora SemiBold"/>
                <a:sym typeface="Sora SemiBold"/>
              </a:rPr>
              <a:t>MySQL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6"/>
          <p:cNvSpPr/>
          <p:nvPr/>
        </p:nvSpPr>
        <p:spPr>
          <a:xfrm>
            <a:off x="3893070" y="1587233"/>
            <a:ext cx="1436691" cy="321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 Light"/>
              <a:buNone/>
            </a:pPr>
            <a:r>
              <a:rPr b="0" i="0" lang="en-US" sz="11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SQL analysis &amp; business insights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6"/>
          <p:cNvSpPr/>
          <p:nvPr/>
        </p:nvSpPr>
        <p:spPr>
          <a:xfrm>
            <a:off x="473943" y="4611439"/>
            <a:ext cx="8653314" cy="159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850"/>
              <a:buFont typeface="Sora Light"/>
              <a:buNone/>
            </a:pPr>
            <a:r>
              <a:rPr b="0" i="0" lang="en-US" sz="8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Transforming raw customer data into actionable business insights across 3,900 rows and 18 columns.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 txBox="1"/>
          <p:nvPr/>
        </p:nvSpPr>
        <p:spPr>
          <a:xfrm>
            <a:off x="7781625" y="4687450"/>
            <a:ext cx="1362300" cy="45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" name="Google Shape;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/>
          <p:nvPr/>
        </p:nvSpPr>
        <p:spPr>
          <a:xfrm>
            <a:off x="3902943" y="405854"/>
            <a:ext cx="4767114" cy="410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550"/>
              <a:buFont typeface="Sora SemiBold"/>
              <a:buNone/>
            </a:pPr>
            <a:r>
              <a:rPr b="0" i="0" lang="en-US" sz="2550" u="none" cap="none" strike="noStrike">
                <a:solidFill>
                  <a:srgbClr val="1F1E1E"/>
                </a:solidFill>
                <a:latin typeface="Sora SemiBold"/>
                <a:ea typeface="Sora SemiBold"/>
                <a:cs typeface="Sora SemiBold"/>
                <a:sym typeface="Sora SemiBold"/>
              </a:rPr>
              <a:t>Data Cleaning in Python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7"/>
          <p:cNvSpPr/>
          <p:nvPr/>
        </p:nvSpPr>
        <p:spPr>
          <a:xfrm>
            <a:off x="3902943" y="989037"/>
            <a:ext cx="249659" cy="1559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950"/>
              <a:buFont typeface="Sora Light"/>
              <a:buNone/>
            </a:pPr>
            <a:r>
              <a:rPr b="0" i="0" lang="en-US" sz="9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7"/>
          <p:cNvSpPr/>
          <p:nvPr/>
        </p:nvSpPr>
        <p:spPr>
          <a:xfrm>
            <a:off x="3902943" y="1186830"/>
            <a:ext cx="4767114" cy="14288"/>
          </a:xfrm>
          <a:prstGeom prst="rect">
            <a:avLst/>
          </a:prstGeom>
          <a:solidFill>
            <a:srgbClr val="DA1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7"/>
          <p:cNvSpPr/>
          <p:nvPr/>
        </p:nvSpPr>
        <p:spPr>
          <a:xfrm>
            <a:off x="3902943" y="1277764"/>
            <a:ext cx="4767114" cy="2052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250"/>
              <a:buFont typeface="Sora SemiBold"/>
              <a:buNone/>
            </a:pPr>
            <a:r>
              <a:rPr b="0" i="0" lang="en-US" sz="1250" u="none" cap="none" strike="noStrike">
                <a:solidFill>
                  <a:srgbClr val="3B3535"/>
                </a:solidFill>
                <a:latin typeface="Sora SemiBold"/>
                <a:ea typeface="Sora SemiBold"/>
                <a:cs typeface="Sora SemiBold"/>
                <a:sym typeface="Sora SemiBold"/>
              </a:rPr>
              <a:t>Imported CSV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7"/>
          <p:cNvSpPr/>
          <p:nvPr/>
        </p:nvSpPr>
        <p:spPr>
          <a:xfrm>
            <a:off x="3902943" y="1551980"/>
            <a:ext cx="4767114" cy="191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950"/>
              <a:buFont typeface="Sora Light"/>
              <a:buNone/>
            </a:pPr>
            <a:r>
              <a:rPr b="0" i="0" lang="en-US" sz="9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3,900 rows, 18 columns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3902943" y="1952551"/>
            <a:ext cx="249659" cy="1559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950"/>
              <a:buFont typeface="Sora Light"/>
              <a:buNone/>
            </a:pPr>
            <a:r>
              <a:rPr b="0" i="0" lang="en-US" sz="9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02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7"/>
          <p:cNvSpPr/>
          <p:nvPr/>
        </p:nvSpPr>
        <p:spPr>
          <a:xfrm>
            <a:off x="3902943" y="2150343"/>
            <a:ext cx="4767114" cy="14288"/>
          </a:xfrm>
          <a:prstGeom prst="rect">
            <a:avLst/>
          </a:prstGeom>
          <a:solidFill>
            <a:srgbClr val="DA1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3902943" y="2241277"/>
            <a:ext cx="4767114" cy="2052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250"/>
              <a:buFont typeface="Sora SemiBold"/>
              <a:buNone/>
            </a:pPr>
            <a:r>
              <a:rPr b="0" i="0" lang="en-US" sz="1250" u="none" cap="none" strike="noStrike">
                <a:solidFill>
                  <a:srgbClr val="3B3535"/>
                </a:solidFill>
                <a:latin typeface="Sora SemiBold"/>
                <a:ea typeface="Sora SemiBold"/>
                <a:cs typeface="Sora SemiBold"/>
                <a:sym typeface="Sora SemiBold"/>
              </a:rPr>
              <a:t>Missing Values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7"/>
          <p:cNvSpPr/>
          <p:nvPr/>
        </p:nvSpPr>
        <p:spPr>
          <a:xfrm>
            <a:off x="3902943" y="2515493"/>
            <a:ext cx="4767114" cy="191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950"/>
              <a:buFont typeface="Sora Light"/>
              <a:buNone/>
            </a:pPr>
            <a:r>
              <a:rPr b="0" i="0" lang="en-US" sz="9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37 gaps in Review Rating → filled with mean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7"/>
          <p:cNvSpPr/>
          <p:nvPr/>
        </p:nvSpPr>
        <p:spPr>
          <a:xfrm>
            <a:off x="3902943" y="2916064"/>
            <a:ext cx="249659" cy="1559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950"/>
              <a:buFont typeface="Sora Light"/>
              <a:buNone/>
            </a:pPr>
            <a:r>
              <a:rPr b="0" i="0" lang="en-US" sz="9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03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3902943" y="3113856"/>
            <a:ext cx="4767114" cy="14288"/>
          </a:xfrm>
          <a:prstGeom prst="rect">
            <a:avLst/>
          </a:prstGeom>
          <a:solidFill>
            <a:srgbClr val="DA1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7"/>
          <p:cNvSpPr/>
          <p:nvPr/>
        </p:nvSpPr>
        <p:spPr>
          <a:xfrm>
            <a:off x="3902943" y="3204790"/>
            <a:ext cx="4767114" cy="2052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250"/>
              <a:buFont typeface="Sora SemiBold"/>
              <a:buNone/>
            </a:pPr>
            <a:r>
              <a:rPr b="0" i="0" lang="en-US" sz="1250" u="none" cap="none" strike="noStrike">
                <a:solidFill>
                  <a:srgbClr val="3B3535"/>
                </a:solidFill>
                <a:latin typeface="Sora SemiBold"/>
                <a:ea typeface="Sora SemiBold"/>
                <a:cs typeface="Sora SemiBold"/>
                <a:sym typeface="Sora SemiBold"/>
              </a:rPr>
              <a:t>New Columns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3902943" y="3479006"/>
            <a:ext cx="4767114" cy="191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950"/>
              <a:buFont typeface="Sora Light"/>
              <a:buNone/>
            </a:pPr>
            <a:r>
              <a:rPr b="0" i="0" lang="en-US" sz="9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Age Group (Young Adult → Senior) &amp; purchase_frequency_days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3902943" y="3879577"/>
            <a:ext cx="249659" cy="1559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950"/>
              <a:buFont typeface="Sora Light"/>
              <a:buNone/>
            </a:pPr>
            <a:r>
              <a:rPr b="0" i="0" lang="en-US" sz="9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04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3902943" y="4077370"/>
            <a:ext cx="4767114" cy="14288"/>
          </a:xfrm>
          <a:prstGeom prst="rect">
            <a:avLst/>
          </a:prstGeom>
          <a:solidFill>
            <a:srgbClr val="DA1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7"/>
          <p:cNvSpPr/>
          <p:nvPr/>
        </p:nvSpPr>
        <p:spPr>
          <a:xfrm>
            <a:off x="3902943" y="4168304"/>
            <a:ext cx="4767114" cy="2052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250"/>
              <a:buFont typeface="Sora SemiBold"/>
              <a:buNone/>
            </a:pPr>
            <a:r>
              <a:rPr b="0" i="0" lang="en-US" sz="1250" u="none" cap="none" strike="noStrike">
                <a:solidFill>
                  <a:srgbClr val="3B3535"/>
                </a:solidFill>
                <a:latin typeface="Sora SemiBold"/>
                <a:ea typeface="Sora SemiBold"/>
                <a:cs typeface="Sora SemiBold"/>
                <a:sym typeface="Sora SemiBold"/>
              </a:rPr>
              <a:t>Exported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3902943" y="4442520"/>
            <a:ext cx="4767114" cy="201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950"/>
              <a:buFont typeface="Sora Light"/>
              <a:buNone/>
            </a:pPr>
            <a:r>
              <a:rPr b="0" i="0" lang="en-US" sz="9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Saved as </a:t>
            </a:r>
            <a:r>
              <a:rPr b="0" i="0" lang="en-US" sz="950" u="none" cap="none" strike="noStrike">
                <a:solidFill>
                  <a:srgbClr val="3B353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customer_behavior_cleaned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8041400" y="4791375"/>
            <a:ext cx="1102500" cy="35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as image"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>
            <a:off x="7891675" y="4780725"/>
            <a:ext cx="1283400" cy="36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5" name="Google Shape;7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9"/>
          <p:cNvSpPr/>
          <p:nvPr/>
        </p:nvSpPr>
        <p:spPr>
          <a:xfrm>
            <a:off x="3902943" y="384646"/>
            <a:ext cx="4767114" cy="84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650"/>
              <a:buFont typeface="Sora SemiBold"/>
              <a:buNone/>
            </a:pPr>
            <a:r>
              <a:rPr b="0" i="0" lang="en-US" sz="2650" u="none" cap="none" strike="noStrike">
                <a:solidFill>
                  <a:srgbClr val="1F1E1E"/>
                </a:solidFill>
                <a:latin typeface="Sora SemiBold"/>
                <a:ea typeface="Sora SemiBold"/>
                <a:cs typeface="Sora SemiBold"/>
                <a:sym typeface="Sora SemiBold"/>
              </a:rPr>
              <a:t>SQL Analysis: Product &amp; Shipping Performance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3902943" y="1418183"/>
            <a:ext cx="4767114" cy="1752600"/>
          </a:xfrm>
          <a:prstGeom prst="roundRect">
            <a:avLst>
              <a:gd fmla="val 3093" name="adj"/>
            </a:avLst>
          </a:prstGeom>
          <a:solidFill>
            <a:srgbClr val="FFFFFF"/>
          </a:solidFill>
          <a:ln cap="flat" cmpd="sng" w="14275">
            <a:solidFill>
              <a:srgbClr val="DFB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9"/>
          <p:cNvSpPr/>
          <p:nvPr/>
        </p:nvSpPr>
        <p:spPr>
          <a:xfrm>
            <a:off x="4046265" y="1561505"/>
            <a:ext cx="4480471" cy="212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300"/>
              <a:buFont typeface="Sora SemiBold"/>
              <a:buNone/>
            </a:pPr>
            <a:r>
              <a:rPr b="0" i="0" lang="en-US" sz="1300" u="none" cap="none" strike="noStrike">
                <a:solidFill>
                  <a:srgbClr val="3B3535"/>
                </a:solidFill>
                <a:latin typeface="Sora SemiBold"/>
                <a:ea typeface="Sora SemiBold"/>
                <a:cs typeface="Sora SemiBold"/>
                <a:sym typeface="Sora SemiBold"/>
              </a:rPr>
              <a:t>Top 5 Products by Review Rating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9"/>
          <p:cNvSpPr/>
          <p:nvPr/>
        </p:nvSpPr>
        <p:spPr>
          <a:xfrm>
            <a:off x="4046265" y="1847478"/>
            <a:ext cx="4480471" cy="1179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1625">
            <a:noAutofit/>
          </a:bodyPr>
          <a:lstStyle/>
          <a:p>
            <a:pPr indent="-203200" lvl="0" marL="203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00"/>
              <a:buFont typeface="Sora"/>
              <a:buChar char="•"/>
            </a:pPr>
            <a:r>
              <a:rPr b="1" i="0" lang="en-US" sz="10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Gloves</a:t>
            </a:r>
            <a:r>
              <a:rPr b="0" i="0" lang="en-US" sz="10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— highest rated product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00"/>
              <a:buFont typeface="Sora"/>
              <a:buChar char="•"/>
            </a:pPr>
            <a:r>
              <a:rPr b="1" i="0" lang="en-US" sz="10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Sandals</a:t>
            </a:r>
            <a:r>
              <a:rPr b="0" i="0" lang="en-US" sz="10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— strong customer satisfaction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00"/>
              <a:buFont typeface="Sora"/>
              <a:buChar char="•"/>
            </a:pPr>
            <a:r>
              <a:rPr b="1" i="0" lang="en-US" sz="10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Boots</a:t>
            </a:r>
            <a:r>
              <a:rPr b="0" i="0" lang="en-US" sz="10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— consistent positive reviews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00"/>
              <a:buFont typeface="Sora"/>
              <a:buChar char="•"/>
            </a:pPr>
            <a:r>
              <a:rPr b="1" i="0" lang="en-US" sz="10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Jacket</a:t>
            </a:r>
            <a:r>
              <a:rPr b="0" i="0" lang="en-US" sz="10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— well-regarded by buyers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00"/>
              <a:buFont typeface="Sora"/>
              <a:buChar char="•"/>
            </a:pPr>
            <a:r>
              <a:rPr b="1" i="0" lang="en-US" sz="10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Skirt</a:t>
            </a:r>
            <a:r>
              <a:rPr b="0" i="0" lang="en-US" sz="10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— rounds out the top five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3902943" y="3293790"/>
            <a:ext cx="4767114" cy="1464990"/>
          </a:xfrm>
          <a:prstGeom prst="roundRect">
            <a:avLst>
              <a:gd fmla="val 3700" name="adj"/>
            </a:avLst>
          </a:prstGeom>
          <a:solidFill>
            <a:srgbClr val="FFFFFF"/>
          </a:solidFill>
          <a:ln cap="flat" cmpd="sng" w="14275">
            <a:solidFill>
              <a:srgbClr val="DFB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4046265" y="3437111"/>
            <a:ext cx="4480471" cy="212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300"/>
              <a:buFont typeface="Sora SemiBold"/>
              <a:buNone/>
            </a:pPr>
            <a:r>
              <a:rPr b="0" i="0" lang="en-US" sz="1300" u="none" cap="none" strike="noStrike">
                <a:solidFill>
                  <a:srgbClr val="3B3535"/>
                </a:solidFill>
                <a:latin typeface="Sora SemiBold"/>
                <a:ea typeface="Sora SemiBold"/>
                <a:cs typeface="Sora SemiBold"/>
                <a:sym typeface="Sora SemiBold"/>
              </a:rPr>
              <a:t>Shipping Type Cost Comparison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4046265" y="3723084"/>
            <a:ext cx="4480471" cy="892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1625">
            <a:noAutofit/>
          </a:bodyPr>
          <a:lstStyle/>
          <a:p>
            <a:pPr indent="-203200" lvl="0" marL="203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00"/>
              <a:buFont typeface="Sora"/>
              <a:buChar char="•"/>
            </a:pPr>
            <a:r>
              <a:rPr b="1" i="0" lang="en-US" sz="10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Express Shipping</a:t>
            </a:r>
            <a:r>
              <a:rPr b="0" i="0" lang="en-US" sz="10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— avg. order value of </a:t>
            </a:r>
            <a:r>
              <a:rPr b="1" i="0" lang="en-US" sz="10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$61.34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00"/>
              <a:buFont typeface="Sora"/>
              <a:buChar char="•"/>
            </a:pPr>
            <a:r>
              <a:rPr b="1" i="0" lang="en-US" sz="10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Standard Shipping</a:t>
            </a:r>
            <a:r>
              <a:rPr b="0" i="0" lang="en-US" sz="10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— avg. order value of </a:t>
            </a:r>
            <a:r>
              <a:rPr b="1" i="0" lang="en-US" sz="10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$58.21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00"/>
              <a:buFont typeface="Sora Light"/>
              <a:buChar char="•"/>
            </a:pPr>
            <a:r>
              <a:rPr b="0" i="0" lang="en-US" sz="10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Express orders trend ~$3.13 higher on average, suggesting customers purchasing premium items opt for faster delivery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9"/>
          <p:cNvSpPr txBox="1"/>
          <p:nvPr/>
        </p:nvSpPr>
        <p:spPr>
          <a:xfrm flipH="1" rot="10800000">
            <a:off x="8006775" y="4860541"/>
            <a:ext cx="1137300" cy="414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9" name="Google Shape;8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0"/>
          <p:cNvSpPr/>
          <p:nvPr/>
        </p:nvSpPr>
        <p:spPr>
          <a:xfrm>
            <a:off x="3902943" y="1384027"/>
            <a:ext cx="4767114" cy="445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800"/>
              <a:buFont typeface="Sora SemiBold"/>
              <a:buNone/>
            </a:pPr>
            <a:r>
              <a:rPr b="0" i="0" lang="en-US" sz="2800" u="none" cap="none" strike="noStrike">
                <a:solidFill>
                  <a:srgbClr val="1F1E1E"/>
                </a:solidFill>
                <a:latin typeface="Sora SemiBold"/>
                <a:ea typeface="Sora SemiBold"/>
                <a:cs typeface="Sora SemiBold"/>
                <a:sym typeface="Sora SemiBold"/>
              </a:rPr>
              <a:t>Power BI Dashboard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3902943" y="2032546"/>
            <a:ext cx="2315840" cy="502890"/>
          </a:xfrm>
          <a:prstGeom prst="roundRect">
            <a:avLst>
              <a:gd fmla="val 11309" name="adj"/>
            </a:avLst>
          </a:prstGeom>
          <a:solidFill>
            <a:srgbClr val="F9D2D6"/>
          </a:solidFill>
          <a:ln cap="flat" cmpd="sng" w="9525">
            <a:solidFill>
              <a:srgbClr val="DFB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0"/>
          <p:cNvSpPr/>
          <p:nvPr/>
        </p:nvSpPr>
        <p:spPr>
          <a:xfrm>
            <a:off x="4043065" y="2172667"/>
            <a:ext cx="2035597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Sora SemiBold"/>
              <a:buNone/>
            </a:pPr>
            <a:r>
              <a:rPr b="0" i="0" lang="en-US" sz="1400" u="none" cap="none" strike="noStrike">
                <a:solidFill>
                  <a:srgbClr val="3B3535"/>
                </a:solidFill>
                <a:latin typeface="Sora SemiBold"/>
                <a:ea typeface="Sora SemiBold"/>
                <a:cs typeface="Sora SemiBold"/>
                <a:sym typeface="Sora SemiBold"/>
              </a:rPr>
              <a:t>3K Customers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0"/>
          <p:cNvSpPr/>
          <p:nvPr/>
        </p:nvSpPr>
        <p:spPr>
          <a:xfrm>
            <a:off x="6354142" y="2032546"/>
            <a:ext cx="2315914" cy="502890"/>
          </a:xfrm>
          <a:prstGeom prst="roundRect">
            <a:avLst>
              <a:gd fmla="val 11309" name="adj"/>
            </a:avLst>
          </a:prstGeom>
          <a:solidFill>
            <a:srgbClr val="F9D2D6"/>
          </a:solidFill>
          <a:ln cap="flat" cmpd="sng" w="9525">
            <a:solidFill>
              <a:srgbClr val="DFB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0"/>
          <p:cNvSpPr/>
          <p:nvPr/>
        </p:nvSpPr>
        <p:spPr>
          <a:xfrm>
            <a:off x="6494264" y="2172667"/>
            <a:ext cx="2035671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Sora SemiBold"/>
              <a:buNone/>
            </a:pPr>
            <a:r>
              <a:rPr b="0" i="0" lang="en-US" sz="1400" u="none" cap="none" strike="noStrike">
                <a:solidFill>
                  <a:srgbClr val="3B3535"/>
                </a:solidFill>
                <a:latin typeface="Sora SemiBold"/>
                <a:ea typeface="Sora SemiBold"/>
                <a:cs typeface="Sora SemiBold"/>
                <a:sym typeface="Sora SemiBold"/>
              </a:rPr>
              <a:t>$59.51 Avg Purchase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0"/>
          <p:cNvSpPr/>
          <p:nvPr/>
        </p:nvSpPr>
        <p:spPr>
          <a:xfrm>
            <a:off x="3902943" y="2670795"/>
            <a:ext cx="4767114" cy="502890"/>
          </a:xfrm>
          <a:prstGeom prst="roundRect">
            <a:avLst>
              <a:gd fmla="val 11309" name="adj"/>
            </a:avLst>
          </a:prstGeom>
          <a:solidFill>
            <a:srgbClr val="F9D2D6"/>
          </a:solidFill>
          <a:ln cap="flat" cmpd="sng" w="9525">
            <a:solidFill>
              <a:srgbClr val="DFB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0"/>
          <p:cNvSpPr/>
          <p:nvPr/>
        </p:nvSpPr>
        <p:spPr>
          <a:xfrm>
            <a:off x="4043065" y="2810917"/>
            <a:ext cx="4486870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Sora SemiBold"/>
              <a:buNone/>
            </a:pPr>
            <a:r>
              <a:rPr b="0" i="0" lang="en-US" sz="1400" u="none" cap="none" strike="noStrike">
                <a:solidFill>
                  <a:srgbClr val="3B3535"/>
                </a:solidFill>
                <a:latin typeface="Sora SemiBold"/>
                <a:ea typeface="Sora SemiBold"/>
                <a:cs typeface="Sora SemiBold"/>
                <a:sym typeface="Sora SemiBold"/>
              </a:rPr>
              <a:t>3.75 Avg Rating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0"/>
          <p:cNvSpPr/>
          <p:nvPr/>
        </p:nvSpPr>
        <p:spPr>
          <a:xfrm>
            <a:off x="3902943" y="3326011"/>
            <a:ext cx="4767114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Sora Light"/>
              <a:buNone/>
            </a:pPr>
            <a:r>
              <a:rPr b="0" i="0" lang="en-US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Interactive filters: Subscription Status, Gender, Category, Shipping Type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0"/>
          <p:cNvSpPr txBox="1"/>
          <p:nvPr/>
        </p:nvSpPr>
        <p:spPr>
          <a:xfrm>
            <a:off x="8041400" y="4826000"/>
            <a:ext cx="1102500" cy="31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"/>
          <p:cNvSpPr/>
          <p:nvPr/>
        </p:nvSpPr>
        <p:spPr>
          <a:xfrm>
            <a:off x="473943" y="372368"/>
            <a:ext cx="8196114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400"/>
              <a:buFont typeface="Sora SemiBold"/>
              <a:buNone/>
            </a:pPr>
            <a:r>
              <a:rPr b="0" i="0" lang="en-US" sz="1400" u="none" cap="none" strike="noStrike">
                <a:solidFill>
                  <a:srgbClr val="1F1E1E"/>
                </a:solidFill>
                <a:latin typeface="Sora SemiBold"/>
                <a:ea typeface="Sora SemiBold"/>
                <a:cs typeface="Sora SemiBold"/>
                <a:sym typeface="Sora SemiBold"/>
              </a:rPr>
              <a:t>Key Insights: Subscription &amp; Category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" name="Google Shape;10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943" y="683791"/>
            <a:ext cx="4015457" cy="28903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6" name="Google Shape;10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7963" y="1269499"/>
            <a:ext cx="4015448" cy="3755323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1"/>
          <p:cNvSpPr/>
          <p:nvPr/>
        </p:nvSpPr>
        <p:spPr>
          <a:xfrm>
            <a:off x="4659362" y="679549"/>
            <a:ext cx="4015457" cy="111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700"/>
              <a:buFont typeface="Sora SemiBold"/>
              <a:buNone/>
            </a:pPr>
            <a:r>
              <a:rPr b="0" i="0" lang="en-US" sz="700" u="none" cap="none" strike="noStrike">
                <a:solidFill>
                  <a:srgbClr val="1F1E1E"/>
                </a:solidFill>
                <a:latin typeface="Sora SemiBold"/>
                <a:ea typeface="Sora SemiBold"/>
                <a:cs typeface="Sora SemiBold"/>
                <a:sym typeface="Sora SemiBold"/>
              </a:rPr>
              <a:t>Subscription Gap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1"/>
          <p:cNvSpPr/>
          <p:nvPr/>
        </p:nvSpPr>
        <p:spPr>
          <a:xfrm>
            <a:off x="4659362" y="824657"/>
            <a:ext cx="4472657" cy="81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500"/>
              <a:buFont typeface="Sora"/>
              <a:buNone/>
            </a:pPr>
            <a:r>
              <a:rPr b="1" i="0" lang="en-US" sz="5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72.59%</a:t>
            </a:r>
            <a:r>
              <a:rPr b="0" i="0" lang="en-US" sz="5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 of customers are not subscribed — major growth opportunity.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1"/>
          <p:cNvSpPr/>
          <p:nvPr/>
        </p:nvSpPr>
        <p:spPr>
          <a:xfrm>
            <a:off x="4659362" y="939701"/>
            <a:ext cx="4015457" cy="111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700"/>
              <a:buFont typeface="Sora SemiBold"/>
              <a:buNone/>
            </a:pPr>
            <a:r>
              <a:rPr b="0" i="0" lang="en-US" sz="700" u="none" cap="none" strike="noStrike">
                <a:solidFill>
                  <a:srgbClr val="1F1E1E"/>
                </a:solidFill>
                <a:latin typeface="Sora SemiBold"/>
                <a:ea typeface="Sora SemiBold"/>
                <a:cs typeface="Sora SemiBold"/>
                <a:sym typeface="Sora SemiBold"/>
              </a:rPr>
              <a:t>Revenue by Category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1"/>
          <p:cNvSpPr/>
          <p:nvPr/>
        </p:nvSpPr>
        <p:spPr>
          <a:xfrm>
            <a:off x="4659362" y="1084808"/>
            <a:ext cx="4472657" cy="81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500"/>
              <a:buFont typeface="Sora Light"/>
              <a:buNone/>
            </a:pPr>
            <a:r>
              <a:rPr b="0" i="0" lang="en-US" sz="5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Clothing leads in revenue, followed by Accessories.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"/>
          <p:cNvSpPr/>
          <p:nvPr/>
        </p:nvSpPr>
        <p:spPr>
          <a:xfrm>
            <a:off x="473943" y="372368"/>
            <a:ext cx="8196114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400"/>
              <a:buFont typeface="Sora SemiBold"/>
              <a:buNone/>
            </a:pPr>
            <a:r>
              <a:rPr b="0" i="0" lang="en-US" sz="1400" u="none" cap="none" strike="noStrike">
                <a:solidFill>
                  <a:srgbClr val="1F1E1E"/>
                </a:solidFill>
                <a:latin typeface="Sora SemiBold"/>
                <a:ea typeface="Sora SemiBold"/>
                <a:cs typeface="Sora SemiBold"/>
                <a:sym typeface="Sora SemiBold"/>
              </a:rPr>
              <a:t>Key Insights: Age Group &amp; Spending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2"/>
          <p:cNvSpPr/>
          <p:nvPr/>
        </p:nvSpPr>
        <p:spPr>
          <a:xfrm>
            <a:off x="473943" y="2580010"/>
            <a:ext cx="4015457" cy="111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700"/>
              <a:buFont typeface="Sora SemiBold"/>
              <a:buNone/>
            </a:pPr>
            <a:r>
              <a:rPr b="0" i="0" lang="en-US" sz="700" u="none" cap="none" strike="noStrike">
                <a:solidFill>
                  <a:srgbClr val="1F1E1E"/>
                </a:solidFill>
                <a:latin typeface="Sora SemiBold"/>
                <a:ea typeface="Sora SemiBold"/>
                <a:cs typeface="Sora SemiBold"/>
                <a:sym typeface="Sora SemiBold"/>
              </a:rPr>
              <a:t>Age Group Revenue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2"/>
          <p:cNvSpPr/>
          <p:nvPr/>
        </p:nvSpPr>
        <p:spPr>
          <a:xfrm>
            <a:off x="473943" y="2725117"/>
            <a:ext cx="4472657" cy="81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500"/>
              <a:buFont typeface="Sora Light"/>
              <a:buNone/>
            </a:pPr>
            <a:r>
              <a:rPr b="0" i="0" lang="en-US" sz="5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Young Adult and Middle-Aged customers drive the strongest revenue. Sales are relatively close across all age groups.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9362" y="683791"/>
            <a:ext cx="4015457" cy="401545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2"/>
          <p:cNvSpPr txBox="1"/>
          <p:nvPr/>
        </p:nvSpPr>
        <p:spPr>
          <a:xfrm>
            <a:off x="7660400" y="4583550"/>
            <a:ext cx="1483500" cy="56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6" name="Google Shape;12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325" y="56775"/>
            <a:ext cx="9034676" cy="5029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2" name="Google Shape;13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4"/>
          <p:cNvSpPr/>
          <p:nvPr/>
        </p:nvSpPr>
        <p:spPr>
          <a:xfrm>
            <a:off x="3902943" y="577528"/>
            <a:ext cx="4767114" cy="89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800"/>
              <a:buFont typeface="Sora SemiBold"/>
              <a:buNone/>
            </a:pPr>
            <a:r>
              <a:rPr b="0" i="0" lang="en-US" sz="2800" u="none" cap="none" strike="noStrike">
                <a:solidFill>
                  <a:srgbClr val="1F1E1E"/>
                </a:solidFill>
                <a:latin typeface="Sora SemiBold"/>
                <a:ea typeface="Sora SemiBold"/>
                <a:cs typeface="Sora SemiBold"/>
                <a:sym typeface="Sora SemiBold"/>
              </a:rPr>
              <a:t>Business Recommendations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" name="Google Shape;13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3694" y="1675656"/>
            <a:ext cx="203076" cy="20307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4"/>
          <p:cNvSpPr/>
          <p:nvPr/>
        </p:nvSpPr>
        <p:spPr>
          <a:xfrm>
            <a:off x="4342954" y="1671489"/>
            <a:ext cx="4327103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Sora SemiBold"/>
              <a:buNone/>
            </a:pPr>
            <a:r>
              <a:rPr b="0" i="0" lang="en-US" sz="1400" u="none" cap="none" strike="noStrike">
                <a:solidFill>
                  <a:srgbClr val="3B3535"/>
                </a:solidFill>
                <a:latin typeface="Sora SemiBold"/>
                <a:ea typeface="Sora SemiBold"/>
                <a:cs typeface="Sora SemiBold"/>
                <a:sym typeface="Sora SemiBold"/>
              </a:rPr>
              <a:t>Target High-Revenue Categories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4342954" y="1975321"/>
            <a:ext cx="4327103" cy="216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Sora Light"/>
              <a:buNone/>
            </a:pPr>
            <a:r>
              <a:rPr b="0" i="0" lang="en-US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Focus on Clothing &amp; Accessories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7" name="Google Shape;13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3694" y="2466975"/>
            <a:ext cx="203076" cy="20307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4"/>
          <p:cNvSpPr/>
          <p:nvPr/>
        </p:nvSpPr>
        <p:spPr>
          <a:xfrm>
            <a:off x="4342954" y="2462808"/>
            <a:ext cx="4327103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Sora SemiBold"/>
              <a:buNone/>
            </a:pPr>
            <a:r>
              <a:rPr b="0" i="0" lang="en-US" sz="1400" u="none" cap="none" strike="noStrike">
                <a:solidFill>
                  <a:srgbClr val="3B3535"/>
                </a:solidFill>
                <a:latin typeface="Sora SemiBold"/>
                <a:ea typeface="Sora SemiBold"/>
                <a:cs typeface="Sora SemiBold"/>
                <a:sym typeface="Sora SemiBold"/>
              </a:rPr>
              <a:t>Boost Subscription Adoption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4342954" y="2766640"/>
            <a:ext cx="4327103" cy="216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Sora Light"/>
              <a:buNone/>
            </a:pPr>
            <a:r>
              <a:rPr b="0" i="0" lang="en-US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Campaigns for non-subscribed customers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" name="Google Shape;14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3694" y="3258294"/>
            <a:ext cx="203076" cy="20307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4"/>
          <p:cNvSpPr/>
          <p:nvPr/>
        </p:nvSpPr>
        <p:spPr>
          <a:xfrm>
            <a:off x="4342954" y="3254127"/>
            <a:ext cx="4327103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Sora SemiBold"/>
              <a:buNone/>
            </a:pPr>
            <a:r>
              <a:rPr b="0" i="0" lang="en-US" sz="1400" u="none" cap="none" strike="noStrike">
                <a:solidFill>
                  <a:srgbClr val="3B3535"/>
                </a:solidFill>
                <a:latin typeface="Sora SemiBold"/>
                <a:ea typeface="Sora SemiBold"/>
                <a:cs typeface="Sora SemiBold"/>
                <a:sym typeface="Sora SemiBold"/>
              </a:rPr>
              <a:t>Loyalty Promotions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4342954" y="3557960"/>
            <a:ext cx="4327103" cy="216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Sora Light"/>
              <a:buNone/>
            </a:pPr>
            <a:r>
              <a:rPr b="0" i="0" lang="en-US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Personalized offers for Returning &amp; Loyal segments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3" name="Google Shape;14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3694" y="4049613"/>
            <a:ext cx="203076" cy="2030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/>
          <p:nvPr/>
        </p:nvSpPr>
        <p:spPr>
          <a:xfrm>
            <a:off x="4342954" y="4045446"/>
            <a:ext cx="4327103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Sora SemiBold"/>
              <a:buNone/>
            </a:pPr>
            <a:r>
              <a:rPr b="0" i="0" lang="en-US" sz="1400" u="none" cap="none" strike="noStrike">
                <a:solidFill>
                  <a:srgbClr val="3B3535"/>
                </a:solidFill>
                <a:latin typeface="Sora SemiBold"/>
                <a:ea typeface="Sora SemiBold"/>
                <a:cs typeface="Sora SemiBold"/>
                <a:sym typeface="Sora SemiBold"/>
              </a:rPr>
              <a:t>Monitor Ratings &amp; Discounts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4342954" y="4349279"/>
            <a:ext cx="4327103" cy="216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Sora Light"/>
              <a:buNone/>
            </a:pPr>
            <a:r>
              <a:rPr b="0" i="0" lang="en-US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Track feedback; ensure promos protect revenue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7850900" y="4756725"/>
            <a:ext cx="1212300" cy="38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"/>
          <p:cNvSpPr/>
          <p:nvPr/>
        </p:nvSpPr>
        <p:spPr>
          <a:xfrm>
            <a:off x="473943" y="1249635"/>
            <a:ext cx="8196114" cy="445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800"/>
              <a:buFont typeface="Sora SemiBold"/>
              <a:buNone/>
            </a:pPr>
            <a:r>
              <a:rPr b="0" i="0" lang="en-US" sz="2800" u="none" cap="none" strike="noStrike">
                <a:solidFill>
                  <a:srgbClr val="1F1E1E"/>
                </a:solidFill>
                <a:latin typeface="Sora SemiBold"/>
                <a:ea typeface="Sora SemiBold"/>
                <a:cs typeface="Sora SemiBold"/>
                <a:sym typeface="Sora SemiBold"/>
              </a:rPr>
              <a:t>Conclusion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473943" y="1965871"/>
            <a:ext cx="8196114" cy="1017463"/>
          </a:xfrm>
          <a:prstGeom prst="roundRect">
            <a:avLst>
              <a:gd fmla="val 5590" name="adj"/>
            </a:avLst>
          </a:prstGeom>
          <a:solidFill>
            <a:srgbClr val="F9D2D6"/>
          </a:solidFill>
          <a:ln cap="flat" cmpd="sng" w="9525">
            <a:solidFill>
              <a:srgbClr val="DFB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5"/>
          <p:cNvSpPr/>
          <p:nvPr/>
        </p:nvSpPr>
        <p:spPr>
          <a:xfrm>
            <a:off x="478706" y="1970633"/>
            <a:ext cx="2728838" cy="1007938"/>
          </a:xfrm>
          <a:custGeom>
            <a:rect b="b" l="l" r="r" t="t"/>
            <a:pathLst>
              <a:path extrusionOk="0" h="1007938" w="2728838">
                <a:moveTo>
                  <a:pt x="47395" y="0"/>
                </a:moveTo>
                <a:lnTo>
                  <a:pt x="2728838" y="0"/>
                </a:lnTo>
                <a:lnTo>
                  <a:pt x="2728838" y="1007938"/>
                </a:lnTo>
                <a:lnTo>
                  <a:pt x="47395" y="1007938"/>
                </a:lnTo>
                <a:cubicBezTo>
                  <a:pt x="21219" y="1007938"/>
                  <a:pt x="0" y="986719"/>
                  <a:pt x="0" y="960543"/>
                </a:cubicBezTo>
                <a:lnTo>
                  <a:pt x="0" y="47395"/>
                </a:lnTo>
                <a:cubicBezTo>
                  <a:pt x="0" y="21219"/>
                  <a:pt x="21219" y="0"/>
                  <a:pt x="47395" y="0"/>
                </a:cubicBezTo>
                <a:close/>
              </a:path>
            </a:pathLst>
          </a:custGeom>
          <a:solidFill>
            <a:srgbClr val="F9D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5"/>
          <p:cNvSpPr/>
          <p:nvPr/>
        </p:nvSpPr>
        <p:spPr>
          <a:xfrm>
            <a:off x="614065" y="2105992"/>
            <a:ext cx="2458120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Sora SemiBold"/>
              <a:buNone/>
            </a:pPr>
            <a:r>
              <a:rPr b="0" i="0" lang="en-US" sz="1400" u="none" cap="none" strike="noStrike">
                <a:solidFill>
                  <a:srgbClr val="3B3535"/>
                </a:solidFill>
                <a:latin typeface="Sora SemiBold"/>
                <a:ea typeface="Sora SemiBold"/>
                <a:cs typeface="Sora SemiBold"/>
                <a:sym typeface="Sora SemiBold"/>
              </a:rPr>
              <a:t>Python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614065" y="2409825"/>
            <a:ext cx="2458120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Sora Light"/>
              <a:buNone/>
            </a:pPr>
            <a:r>
              <a:rPr b="0" i="0" lang="en-US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Cleaned &amp; preprocessed 3,900 rows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3207544" y="1970633"/>
            <a:ext cx="2728838" cy="1007938"/>
          </a:xfrm>
          <a:prstGeom prst="rect">
            <a:avLst/>
          </a:prstGeom>
          <a:solidFill>
            <a:srgbClr val="F9D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3207544" y="1970633"/>
            <a:ext cx="19050" cy="1007938"/>
          </a:xfrm>
          <a:prstGeom prst="roundRect">
            <a:avLst>
              <a:gd fmla="val 50000" name="adj"/>
            </a:avLst>
          </a:prstGeom>
          <a:solidFill>
            <a:srgbClr val="DFB8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5"/>
          <p:cNvSpPr/>
          <p:nvPr/>
        </p:nvSpPr>
        <p:spPr>
          <a:xfrm>
            <a:off x="3342903" y="2105992"/>
            <a:ext cx="2458120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Sora SemiBold"/>
              <a:buNone/>
            </a:pPr>
            <a:r>
              <a:rPr b="0" i="0" lang="en-US" sz="1400" u="none" cap="none" strike="noStrike">
                <a:solidFill>
                  <a:srgbClr val="3B3535"/>
                </a:solidFill>
                <a:latin typeface="Sora SemiBold"/>
                <a:ea typeface="Sora SemiBold"/>
                <a:cs typeface="Sora SemiBold"/>
                <a:sym typeface="Sora SemiBold"/>
              </a:rPr>
              <a:t>MySQL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3342903" y="2409825"/>
            <a:ext cx="2458120" cy="216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Sora Light"/>
              <a:buNone/>
            </a:pPr>
            <a:r>
              <a:rPr b="0" i="0" lang="en-US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Answered 10 business questions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5936382" y="1970633"/>
            <a:ext cx="2728838" cy="1007938"/>
          </a:xfrm>
          <a:custGeom>
            <a:rect b="b" l="l" r="r" t="t"/>
            <a:pathLst>
              <a:path extrusionOk="0" h="1007938" w="2728838">
                <a:moveTo>
                  <a:pt x="0" y="0"/>
                </a:moveTo>
                <a:lnTo>
                  <a:pt x="2681443" y="0"/>
                </a:lnTo>
                <a:cubicBezTo>
                  <a:pt x="2694013" y="0"/>
                  <a:pt x="2706068" y="4993"/>
                  <a:pt x="2714956" y="13882"/>
                </a:cubicBezTo>
                <a:cubicBezTo>
                  <a:pt x="2723845" y="22770"/>
                  <a:pt x="2728838" y="34825"/>
                  <a:pt x="2728838" y="47395"/>
                </a:cubicBezTo>
                <a:lnTo>
                  <a:pt x="2728838" y="960544"/>
                </a:lnTo>
                <a:cubicBezTo>
                  <a:pt x="2728838" y="986720"/>
                  <a:pt x="2707619" y="1007939"/>
                  <a:pt x="2681443" y="1007939"/>
                </a:cubicBezTo>
                <a:lnTo>
                  <a:pt x="0" y="1007938"/>
                </a:lnTo>
                <a:lnTo>
                  <a:pt x="0" y="0"/>
                </a:lnTo>
                <a:close/>
              </a:path>
            </a:pathLst>
          </a:custGeom>
          <a:solidFill>
            <a:srgbClr val="F9D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5"/>
          <p:cNvSpPr/>
          <p:nvPr/>
        </p:nvSpPr>
        <p:spPr>
          <a:xfrm>
            <a:off x="5936382" y="1970633"/>
            <a:ext cx="19050" cy="1007938"/>
          </a:xfrm>
          <a:prstGeom prst="roundRect">
            <a:avLst>
              <a:gd fmla="val 50000" name="adj"/>
            </a:avLst>
          </a:prstGeom>
          <a:solidFill>
            <a:srgbClr val="DFB8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5"/>
          <p:cNvSpPr/>
          <p:nvPr/>
        </p:nvSpPr>
        <p:spPr>
          <a:xfrm>
            <a:off x="6071741" y="2105992"/>
            <a:ext cx="2458120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Sora SemiBold"/>
              <a:buNone/>
            </a:pPr>
            <a:r>
              <a:rPr b="0" i="0" lang="en-US" sz="1400" u="none" cap="none" strike="noStrike">
                <a:solidFill>
                  <a:srgbClr val="3B3535"/>
                </a:solidFill>
                <a:latin typeface="Sora SemiBold"/>
                <a:ea typeface="Sora SemiBold"/>
                <a:cs typeface="Sora SemiBold"/>
                <a:sym typeface="Sora SemiBold"/>
              </a:rPr>
              <a:t>Power BI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6071741" y="2409825"/>
            <a:ext cx="2458120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50"/>
              <a:buFont typeface="Sora Light"/>
              <a:buNone/>
            </a:pPr>
            <a:r>
              <a:rPr b="0" i="0" lang="en-US" sz="105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rPr>
              <a:t>Interactive dashboard with actionable insights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473943" y="3135660"/>
            <a:ext cx="8196114" cy="758130"/>
          </a:xfrm>
          <a:prstGeom prst="roundRect">
            <a:avLst>
              <a:gd fmla="val 7502" name="adj"/>
            </a:avLst>
          </a:prstGeom>
          <a:solidFill>
            <a:srgbClr val="F9D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2" y="3329211"/>
            <a:ext cx="169218" cy="135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5"/>
          <p:cNvSpPr/>
          <p:nvPr/>
        </p:nvSpPr>
        <p:spPr>
          <a:xfrm>
            <a:off x="913879" y="3304803"/>
            <a:ext cx="7620819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Sora Light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Sora Light"/>
                <a:ea typeface="Sora Light"/>
                <a:cs typeface="Sora Light"/>
                <a:sym typeface="Sora Light"/>
              </a:rPr>
              <a:t>Raw customer data → meaningful business insights. Skills strengthened: data cleaning, SQL querying, visualization &amp; dashboard development.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 txBox="1"/>
          <p:nvPr/>
        </p:nvSpPr>
        <p:spPr>
          <a:xfrm>
            <a:off x="7660400" y="4652825"/>
            <a:ext cx="1483500" cy="49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